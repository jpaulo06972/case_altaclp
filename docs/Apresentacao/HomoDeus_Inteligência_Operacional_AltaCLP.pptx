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83186"/>
            <a:ext cx="4000500" cy="2200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5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HomoDeus: Transformando Operações Industriais com Inteligência Ativa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571500" y="3354828"/>
            <a:ext cx="400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F46E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Recuperação de Lucro e Eficiência Operacional para a AltaCLP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1500" y="4126353"/>
            <a:ext cx="2302073" cy="3053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Apresentado por:</a:t>
            </a:r>
            <a:r>
              <a:rPr lang="en-US" sz="9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Equipe de Inovação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62419"/>
            <a:ext cx="4286250" cy="24186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464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Custo da Ineficiência Hoje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060847"/>
            <a:ext cx="3600450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4375" y="1203722"/>
            <a:ext cx="33147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Falsos Alertas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4375" y="1387673"/>
            <a:ext cx="33147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R$ 31.400 /mês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4375" y="1591270"/>
            <a:ext cx="33147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Custos logísticos e visitas de campo desnecessárias.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71500" y="1960959"/>
            <a:ext cx="3600450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4375" y="2103834"/>
            <a:ext cx="33147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Backlog de Comissionamento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4375" y="2287786"/>
            <a:ext cx="33147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R$ 133.600 /mês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4375" y="2491383"/>
            <a:ext cx="33147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Oportunidades perdidas e atrasos contratuais.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71500" y="2861072"/>
            <a:ext cx="3600450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4375" y="3003947"/>
            <a:ext cx="33147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Drift de Código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4375" y="3187898"/>
            <a:ext cx="33147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R$ 45.000 /mês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4375" y="3391495"/>
            <a:ext cx="33147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Riscos de compliance e retrabalho técnico.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838998" y="1060847"/>
            <a:ext cx="346650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Perda Mensal Estimada: </a:t>
            </a:r>
            <a:r>
              <a:rPr lang="en-US" sz="140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R$ 210.000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46609"/>
            <a:ext cx="4000500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464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 Solução HomoDeus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03722"/>
            <a:ext cx="2400300" cy="2943225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521619"/>
            <a:ext cx="428625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2075259"/>
            <a:ext cx="19716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Módulo 1: Inteligência Comercial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85813" y="2632472"/>
            <a:ext cx="19716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Automação de Cotação via WhatsApp.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785813" y="3132534"/>
            <a:ext cx="19716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Geração instantânea de BOM.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85813" y="3632597"/>
            <a:ext cx="19716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Redução de 66% no tempo de comissionamento.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371850" y="1203722"/>
            <a:ext cx="2400300" cy="2943225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163" y="1521619"/>
            <a:ext cx="342900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86163" y="2075259"/>
            <a:ext cx="19716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Módulo 2: Preditiva Híbrida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586163" y="2632472"/>
            <a:ext cx="19716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Thresholds Dinâmicos por máquina.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3586163" y="3132534"/>
            <a:ext cx="19716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Detecção de Anomalias via ML.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3586163" y="3632597"/>
            <a:ext cx="19716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Corte de 80% nos falsos alertas.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172200" y="1203722"/>
            <a:ext cx="2400300" cy="2943225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513" y="1521619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86513" y="2075259"/>
            <a:ext cx="19716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Módulo 3: Auditoria GitOps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386513" y="2632472"/>
            <a:ext cx="19716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Sincronização real Campo vs. Git.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6386513" y="3132534"/>
            <a:ext cx="19716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Monitoramento de firmware em tempo real.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386513" y="3632597"/>
            <a:ext cx="19716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Eliminação de Drift de Código.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464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Acelerando o Ciclo Comercial e de Entrega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060847"/>
            <a:ext cx="3200400" cy="669727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217116"/>
            <a:ext cx="112514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2614" y="1203722"/>
            <a:ext cx="12287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Ingestão Inteligente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14375" y="1416248"/>
            <a:ext cx="29146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Transcrição Whisper de áudios do WhatsApp com alta precisão técnica.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571500" y="1830586"/>
            <a:ext cx="3200400" cy="669727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986855"/>
            <a:ext cx="96441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6541" y="1973461"/>
            <a:ext cx="10465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Geração de BOM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14375" y="2185988"/>
            <a:ext cx="29146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Extração automática de componentes e criação instantânea de Bill of Materials.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571500" y="2600325"/>
            <a:ext cx="3200400" cy="669727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756595"/>
            <a:ext cx="96441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6541" y="2743200"/>
            <a:ext cx="139660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Velocidade de Entrega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714375" y="2955727"/>
            <a:ext cx="29146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Redução do tempo de comissionamento de 6 dias para apenas 2 dias.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571500" y="3555802"/>
            <a:ext cx="32004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R$ 80.000 /mês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571500" y="3832622"/>
            <a:ext cx="32004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1E29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RECUPERAÇÃO DE RECEITA PERDIDA</a:t>
            </a:r>
            <a:endParaRPr lang="en-US" sz="7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506" y="1060847"/>
            <a:ext cx="4643438" cy="26196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464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Manutenção Preditiva de Alta Precisão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060847"/>
            <a:ext cx="3600450" cy="662583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60847"/>
            <a:ext cx="28575" cy="66258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203722"/>
            <a:ext cx="33147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Impacto Financeiro Direto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4375" y="1448395"/>
            <a:ext cx="33147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Economia projetada de </a:t>
            </a:r>
            <a:r>
              <a:rPr lang="en-US" sz="800" b="1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R$ 25.000/mês</a:t>
            </a: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em custos logísticos </a:t>
            </a: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 visitas de campo desnecessárias.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82391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7250" y="1937742"/>
            <a:ext cx="33147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Thresholds Dinâmicos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57250" y="2121694"/>
            <a:ext cx="33147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Transição de limites fixos para ajustes inteligentes por máquina e contexto operacional.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7810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7250" y="2613161"/>
            <a:ext cx="33147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Anomaly Detection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857250" y="2797113"/>
            <a:ext cx="33147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Algoritmos de Machine Learning que aprendem padrões reais e ignoram ruídos de sensores.</a:t>
            </a:r>
            <a:endParaRPr lang="en-US" sz="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33229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57250" y="3288581"/>
            <a:ext cx="33147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Recuperação de NPS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857250" y="3472532"/>
            <a:ext cx="33147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Aumento da confiança do cliente final com alertas assertivos e redução de paradas falsas.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4572000" y="1060847"/>
            <a:ext cx="4000500" cy="3291483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786313" y="1275159"/>
            <a:ext cx="3571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Evolução da Precisão de Alertas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573411"/>
            <a:ext cx="3557588" cy="25003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86313" y="4216598"/>
            <a:ext cx="3571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Meta: Redução de 80% nos falsos alertas em 12 semanas.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464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Segurança e Conformidade com GitOps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060847"/>
            <a:ext cx="4400550" cy="1890861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291233"/>
            <a:ext cx="157163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0131" y="1275159"/>
            <a:ext cx="293250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Eliminação do Risco de Drift de Código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85813" y="1571625"/>
            <a:ext cx="3971925" cy="234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Monitoramento em tempo real do hash do firmware nos CLPs.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785813" y="1913074"/>
            <a:ext cx="3971925" cy="234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Alertas automáticos ao detectar hotfixes não documentados.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85813" y="2254523"/>
            <a:ext cx="3971925" cy="234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Garantia de que o código oficial é o que opera na fábrica.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785813" y="2595972"/>
            <a:ext cx="3971925" cy="2342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Proteção contra multas e paradas catastróficas.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71500" y="3044577"/>
            <a:ext cx="4400550" cy="432197"/>
          </a:xfrm>
          <a:prstGeom prst="rect">
            <a:avLst/>
          </a:prstGeom>
          <a:solidFill>
            <a:srgbClr val="FEF2F2"/>
          </a:solidFill>
          <a:ln w="9144">
            <a:solidFill>
              <a:srgbClr val="FEE2E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198168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8675" y="3187452"/>
            <a:ext cx="326469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Evite prejuízos como o da Belmare (R$ 140k) com auditoria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714375" y="3324969"/>
            <a:ext cx="78938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automatizada.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1060847"/>
            <a:ext cx="2286000" cy="40528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6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464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Arquitetura Técnica Robusta</a:t>
            </a:r>
            <a:endParaRPr lang="en-US" sz="2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" y="1396519"/>
            <a:ext cx="4643438" cy="264338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372100" y="775097"/>
            <a:ext cx="3200400" cy="1347601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961727"/>
            <a:ext cx="142875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72150" y="946547"/>
            <a:ext cx="123765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Core &amp; Integração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5543550" y="1205508"/>
            <a:ext cx="28575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Backend em FastAPI (Python) para alta performance.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5543550" y="1628384"/>
            <a:ext cx="2857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Conexão nativa com PostgreSQL e MQTT.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5543550" y="1868398"/>
            <a:ext cx="2857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Integração transparente com Git Central.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5372100" y="2238155"/>
            <a:ext cx="3200400" cy="116473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2424785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72150" y="2409605"/>
            <a:ext cx="14180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Inteligência Artificial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5543550" y="2668566"/>
            <a:ext cx="2857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LLMs (GPT-4o) para processamento de linguagem.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5543550" y="2908579"/>
            <a:ext cx="2857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Whisper API para transcrição de áudio industrial.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5543550" y="3148592"/>
            <a:ext cx="2857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Scikit-learn para detecção de anomalias.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5372100" y="3521334"/>
            <a:ext cx="3200400" cy="1164738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3707964"/>
            <a:ext cx="142875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772150" y="3692784"/>
            <a:ext cx="74652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Segurança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543550" y="3951745"/>
            <a:ext cx="2857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Criptografia de dados em repouso e trânsito.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5543550" y="4191758"/>
            <a:ext cx="2857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Controle de acesso granular (RBAC).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5543550" y="4431771"/>
            <a:ext cx="2857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Auditoria de integridade via GitOps.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464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Roadmap de Implementação (12 Semanas)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346597"/>
            <a:ext cx="2400300" cy="2714625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2950" y="1560909"/>
            <a:ext cx="357188" cy="3571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742950" y="1560909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42950" y="2089547"/>
            <a:ext cx="20574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SEMANAS 1-4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2950" y="2369939"/>
            <a:ext cx="20574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Estancar o Sangramento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2950" y="2644973"/>
            <a:ext cx="20574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Painel de Thresholds Dinâmicos.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2950" y="2913562"/>
            <a:ext cx="20574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Assistente de Cotação WhatsApp.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2950" y="3182150"/>
            <a:ext cx="20574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Geração automática de BOM.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42950" y="3507888"/>
            <a:ext cx="2057400" cy="235744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IMPACTO: </a:t>
            </a:r>
            <a:r>
              <a:rPr lang="en-US" sz="7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Proteção de R$ 780k </a:t>
            </a:r>
            <a:r>
              <a:rPr lang="en-US" sz="7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(Anaclara)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3371850" y="1346597"/>
            <a:ext cx="2400300" cy="2714625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43300" y="1560909"/>
            <a:ext cx="357188" cy="3571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2"/>
          <p:cNvSpPr/>
          <p:nvPr/>
        </p:nvSpPr>
        <p:spPr>
          <a:xfrm>
            <a:off x="3543300" y="1560909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543300" y="2089547"/>
            <a:ext cx="20574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SEMANAS 5-8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543300" y="2369939"/>
            <a:ext cx="20574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Controle e Visibilidade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543300" y="2644973"/>
            <a:ext cx="20574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Auditoria GitOps (Campo vs Git).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543300" y="2913562"/>
            <a:ext cx="20574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App Mobile para Técnicos.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543300" y="3182150"/>
            <a:ext cx="20574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Histórico contextual de máquinas.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543300" y="3507888"/>
            <a:ext cx="2057400" cy="235744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IMPACTO: </a:t>
            </a:r>
            <a:r>
              <a:rPr lang="en-US" sz="7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Zero Drift de Código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172200" y="1346597"/>
            <a:ext cx="2400300" cy="2714625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43650" y="1560909"/>
            <a:ext cx="357188" cy="3571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Text 21"/>
          <p:cNvSpPr/>
          <p:nvPr/>
        </p:nvSpPr>
        <p:spPr>
          <a:xfrm>
            <a:off x="6343650" y="1560909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43650" y="2089547"/>
            <a:ext cx="20574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SEMANAS 9-12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343650" y="2369939"/>
            <a:ext cx="20574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Preditiva Avançada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43650" y="2644973"/>
            <a:ext cx="20574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Deploy de IA Anomaly Detection.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343650" y="2913562"/>
            <a:ext cx="20574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Dashboard Executivo Unificado.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343650" y="3182150"/>
            <a:ext cx="20574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Treinamento de equipes.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343650" y="3507888"/>
            <a:ext cx="2057400" cy="235744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IMPACTO: </a:t>
            </a:r>
            <a:r>
              <a:rPr lang="en-US" sz="7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-80% Falsos Alertas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542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1253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ROI &amp; Economia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3830836" y="812602"/>
            <a:ext cx="1071563" cy="592931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973711" y="919758"/>
            <a:ext cx="7858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Investimento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973711" y="1076920"/>
            <a:ext cx="7858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R$ 150k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45273" y="812602"/>
            <a:ext cx="1098352" cy="592931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02436" y="919758"/>
            <a:ext cx="79831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Retorno Ano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202436" y="1076920"/>
            <a:ext cx="79831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R$ 2.52M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86500" y="812602"/>
            <a:ext cx="1071563" cy="592931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9375" y="919758"/>
            <a:ext cx="7858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ROI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429375" y="1076920"/>
            <a:ext cx="7858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16.8x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500938" y="812602"/>
            <a:ext cx="1071563" cy="592931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43813" y="919758"/>
            <a:ext cx="7858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Payback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643813" y="1076920"/>
            <a:ext cx="7858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&lt; 6 sem.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1500" y="1605558"/>
            <a:ext cx="3893344" cy="1660922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4375" y="1748433"/>
            <a:ext cx="360759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Economia por Categoria: Total R$ 2.520.000</a:t>
            </a:r>
            <a:endParaRPr lang="en-US" sz="9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010966"/>
            <a:ext cx="3593306" cy="109835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679156" y="1605558"/>
            <a:ext cx="3893344" cy="1660922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22031" y="1748433"/>
            <a:ext cx="360759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Fluxo Mensal: Sem vs. Com Plataforma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031" y="2010966"/>
            <a:ext cx="3593306" cy="10983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71500" y="3466505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Estrutura de Investimento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71500" y="3782616"/>
            <a:ext cx="2571750" cy="1207294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052042" y="3889772"/>
            <a:ext cx="984052" cy="1768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5" name="Text 20"/>
          <p:cNvSpPr/>
          <p:nvPr/>
        </p:nvSpPr>
        <p:spPr>
          <a:xfrm>
            <a:off x="2052042" y="3889772"/>
            <a:ext cx="984052" cy="176808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PAYBACK IMEDIATO</a:t>
            </a:r>
            <a:endParaRPr lang="en-US" sz="600" dirty="0"/>
          </a:p>
        </p:txBody>
      </p:sp>
      <p:sp>
        <p:nvSpPr>
          <p:cNvPr id="26" name="Text 21"/>
          <p:cNvSpPr/>
          <p:nvPr/>
        </p:nvSpPr>
        <p:spPr>
          <a:xfrm>
            <a:off x="714375" y="3925491"/>
            <a:ext cx="2286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Fase 1 (Semanas 1-4)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714375" y="4082653"/>
            <a:ext cx="2286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R$ 45.000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714375" y="4361259"/>
            <a:ext cx="2286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Thresholds dinâmicos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714375" y="4518422"/>
            <a:ext cx="2286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Assistente de cotação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714375" y="4675584"/>
            <a:ext cx="2286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Integração MQTT/PostgreSQL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3286125" y="3782616"/>
            <a:ext cx="2571750" cy="1207294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429000" y="3925491"/>
            <a:ext cx="2286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Fase 2 (Semanas 5-8)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3429000" y="4082653"/>
            <a:ext cx="2286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R$ 55.000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3429000" y="4361259"/>
            <a:ext cx="2286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Auditoria GitOps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3429000" y="4518422"/>
            <a:ext cx="2286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App mobile técnicos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3429000" y="4675584"/>
            <a:ext cx="2286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Dashboard executivo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6000750" y="3782616"/>
            <a:ext cx="2571750" cy="1207294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143625" y="3925491"/>
            <a:ext cx="2286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Fase 3 (Semanas 9-12)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6143625" y="4082653"/>
            <a:ext cx="2286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R$ 50.000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6143625" y="4361259"/>
            <a:ext cx="2286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Modelo IA preditiva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6143625" y="4518422"/>
            <a:ext cx="2286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Retreinamento automático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6143625" y="4675584"/>
            <a:ext cx="2286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Suporte 6 meses</a:t>
            </a:r>
            <a:endParaRPr lang="en-US" sz="750" dirty="0"/>
          </a:p>
        </p:txBody>
      </p:sp>
      <p:sp>
        <p:nvSpPr>
          <p:cNvPr id="43" name="Text 38"/>
          <p:cNvSpPr/>
          <p:nvPr/>
        </p:nvSpPr>
        <p:spPr>
          <a:xfrm>
            <a:off x="571500" y="5118497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Investimento total (3 fases): R$ 150.000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464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Custos Operacionais e Eficiência de IA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060847"/>
            <a:ext cx="4800600" cy="2066330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060847"/>
            <a:ext cx="1070446" cy="37326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19820"/>
            <a:ext cx="1070446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060847"/>
            <a:ext cx="1070446" cy="373261"/>
          </a:xfrm>
          <a:prstGeom prst="rect">
            <a:avLst/>
          </a:prstGeom>
          <a:noFill/>
          <a:ln/>
        </p:spPr>
        <p:txBody>
          <a:bodyPr wrap="none" lIns="170053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Categoria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641946" y="1060847"/>
            <a:ext cx="2589247" cy="37326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1641946" y="1419820"/>
            <a:ext cx="2589247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1641946" y="1060847"/>
            <a:ext cx="2589247" cy="373261"/>
          </a:xfrm>
          <a:prstGeom prst="rect">
            <a:avLst/>
          </a:prstGeom>
          <a:noFill/>
          <a:ln/>
        </p:spPr>
        <p:txBody>
          <a:bodyPr wrap="square" lIns="170053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Serviço / Recurso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31193" y="1060847"/>
            <a:ext cx="1140907" cy="37326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4231193" y="1419820"/>
            <a:ext cx="1140907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0"/>
          <p:cNvSpPr/>
          <p:nvPr/>
        </p:nvSpPr>
        <p:spPr>
          <a:xfrm>
            <a:off x="4231193" y="1060847"/>
            <a:ext cx="1140907" cy="373261"/>
          </a:xfrm>
          <a:prstGeom prst="rect">
            <a:avLst/>
          </a:prstGeom>
          <a:noFill/>
          <a:ln/>
        </p:spPr>
        <p:txBody>
          <a:bodyPr wrap="none" lIns="170053" tIns="136017" rIns="0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Mensal (Est.)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1500" y="1426964"/>
            <a:ext cx="1070446" cy="332184"/>
          </a:xfrm>
          <a:prstGeom prst="rect">
            <a:avLst/>
          </a:prstGeom>
          <a:noFill/>
          <a:ln/>
        </p:spPr>
        <p:txBody>
          <a:bodyPr wrap="non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Infraestrutura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641946" y="1426964"/>
            <a:ext cx="2589247" cy="332184"/>
          </a:xfrm>
          <a:prstGeom prst="rect">
            <a:avLst/>
          </a:prstGeom>
          <a:noFill/>
          <a:ln/>
        </p:spPr>
        <p:txBody>
          <a:bodyPr wrap="squar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Hospedagem &amp; API (Vercel/AWS)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231193" y="1426964"/>
            <a:ext cx="1140907" cy="332184"/>
          </a:xfrm>
          <a:prstGeom prst="rect">
            <a:avLst/>
          </a:prstGeom>
          <a:noFill/>
          <a:ln/>
        </p:spPr>
        <p:txBody>
          <a:bodyPr wrap="non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$ 70.00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71500" y="1759148"/>
            <a:ext cx="1070446" cy="335756"/>
          </a:xfrm>
          <a:prstGeom prst="rect">
            <a:avLst/>
          </a:prstGeom>
          <a:noFill/>
          <a:ln/>
        </p:spPr>
        <p:txBody>
          <a:bodyPr wrap="non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Dados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641946" y="1759148"/>
            <a:ext cx="2589247" cy="335756"/>
          </a:xfrm>
          <a:prstGeom prst="rect">
            <a:avLst/>
          </a:prstGeom>
          <a:noFill/>
          <a:ln/>
        </p:spPr>
        <p:txBody>
          <a:bodyPr wrap="squar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Banco de Dados &amp; Storage (RDS/S3)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231193" y="1759148"/>
            <a:ext cx="1140907" cy="335756"/>
          </a:xfrm>
          <a:prstGeom prst="rect">
            <a:avLst/>
          </a:prstGeom>
          <a:noFill/>
          <a:ln/>
        </p:spPr>
        <p:txBody>
          <a:bodyPr wrap="non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$ 47.30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71500" y="2094905"/>
            <a:ext cx="1070446" cy="335756"/>
          </a:xfrm>
          <a:prstGeom prst="rect">
            <a:avLst/>
          </a:prstGeom>
          <a:noFill/>
          <a:ln/>
        </p:spPr>
        <p:txBody>
          <a:bodyPr wrap="non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Mensageria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641946" y="2094905"/>
            <a:ext cx="2589247" cy="335756"/>
          </a:xfrm>
          <a:prstGeom prst="rect">
            <a:avLst/>
          </a:prstGeom>
          <a:noFill/>
          <a:ln/>
        </p:spPr>
        <p:txBody>
          <a:bodyPr wrap="squar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MQTT Broker (75M registros)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231193" y="2094905"/>
            <a:ext cx="1140907" cy="335756"/>
          </a:xfrm>
          <a:prstGeom prst="rect">
            <a:avLst/>
          </a:prstGeom>
          <a:noFill/>
          <a:ln/>
        </p:spPr>
        <p:txBody>
          <a:bodyPr wrap="non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$ 15.00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1500" y="2430661"/>
            <a:ext cx="1070446" cy="335756"/>
          </a:xfrm>
          <a:prstGeom prst="rect">
            <a:avLst/>
          </a:prstGeom>
          <a:noFill/>
          <a:ln/>
        </p:spPr>
        <p:txBody>
          <a:bodyPr wrap="non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IA (Tokens)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641946" y="2430661"/>
            <a:ext cx="2589247" cy="335756"/>
          </a:xfrm>
          <a:prstGeom prst="rect">
            <a:avLst/>
          </a:prstGeom>
          <a:noFill/>
          <a:ln/>
        </p:spPr>
        <p:txBody>
          <a:bodyPr wrap="squar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GPT-4o (5M tokens)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231193" y="2430661"/>
            <a:ext cx="1140907" cy="335756"/>
          </a:xfrm>
          <a:prstGeom prst="rect">
            <a:avLst/>
          </a:prstGeom>
          <a:noFill/>
          <a:ln/>
        </p:spPr>
        <p:txBody>
          <a:bodyPr wrap="non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$ 10.00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71500" y="2766417"/>
            <a:ext cx="1070446" cy="335756"/>
          </a:xfrm>
          <a:prstGeom prst="rect">
            <a:avLst/>
          </a:prstGeom>
          <a:noFill/>
          <a:ln/>
        </p:spPr>
        <p:txBody>
          <a:bodyPr wrap="non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IA (Voz)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641946" y="2766417"/>
            <a:ext cx="2589247" cy="335756"/>
          </a:xfrm>
          <a:prstGeom prst="rect">
            <a:avLst/>
          </a:prstGeom>
          <a:noFill/>
          <a:ln/>
        </p:spPr>
        <p:txBody>
          <a:bodyPr wrap="squar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Whisper (1.000 min áudio)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231193" y="2766417"/>
            <a:ext cx="1140907" cy="335756"/>
          </a:xfrm>
          <a:prstGeom prst="rect">
            <a:avLst/>
          </a:prstGeom>
          <a:noFill/>
          <a:ln/>
        </p:spPr>
        <p:txBody>
          <a:bodyPr wrap="none" lIns="170053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$ 6.00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1500" y="3477220"/>
            <a:ext cx="48006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Custo Mensal Total Estimado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71500" y="3632597"/>
            <a:ext cx="48006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R$ 771,20</a:t>
            </a:r>
            <a:endParaRPr lang="en-US" sz="18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356" y="1060847"/>
            <a:ext cx="1785938" cy="1785938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360616" y="2989659"/>
            <a:ext cx="1623417" cy="2803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29"/>
          <p:cNvSpPr/>
          <p:nvPr/>
        </p:nvSpPr>
        <p:spPr>
          <a:xfrm>
            <a:off x="6360616" y="2989659"/>
            <a:ext cx="1623417" cy="28039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ROI: 118x o Investimento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5772150" y="3484364"/>
            <a:ext cx="2800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Para cada </a:t>
            </a:r>
            <a:r>
              <a:rPr lang="en-US" sz="8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R$ 1,00</a:t>
            </a:r>
            <a:r>
              <a:rPr lang="en-US" sz="8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gasto em operação, a plataforma </a:t>
            </a:r>
            <a:r>
              <a:rPr lang="en-US" sz="8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recupera </a:t>
            </a:r>
            <a:r>
              <a:rPr lang="en-US" sz="8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R$ 118,00</a:t>
            </a:r>
            <a:r>
              <a:rPr lang="en-US" sz="8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em economia e eficiência para a </a:t>
            </a:r>
            <a:r>
              <a:rPr lang="en-US" sz="8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AltaCLP.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464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Escalabilidade e Projeção de 5 Anos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060847"/>
            <a:ext cx="4400550" cy="3384352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275159"/>
            <a:ext cx="39719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Crescimento de Plantas vs. Custo Mensal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573411"/>
            <a:ext cx="3957638" cy="2857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372100" y="1060847"/>
            <a:ext cx="3200400" cy="775097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14975" y="1203722"/>
            <a:ext cx="3357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Ano 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825978" y="1220688"/>
            <a:ext cx="6036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40 PLANTAS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514975" y="1444823"/>
            <a:ext cx="29146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R$ 771,20 /mês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514975" y="1709142"/>
            <a:ext cx="291465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Fase de MVP e Estabilização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5372100" y="1935956"/>
            <a:ext cx="3200400" cy="775097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514975" y="2078831"/>
            <a:ext cx="3643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Ano 3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833122" y="2095798"/>
            <a:ext cx="5965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65 PLANTAS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514975" y="2319933"/>
            <a:ext cx="29146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R$ 1.118,00 /mês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514975" y="2584252"/>
            <a:ext cx="291465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Hot/Cold Storage &amp; GPT-mini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5372100" y="2811066"/>
            <a:ext cx="3200400" cy="775097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514975" y="2953941"/>
            <a:ext cx="3607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Ano 5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786688" y="2970907"/>
            <a:ext cx="6429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100 PLANTAS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5514975" y="3195042"/>
            <a:ext cx="29146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R$ 1.508,00 /mês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514975" y="3459361"/>
            <a:ext cx="291465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EA5E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 Lake &amp; Fine-tuned Models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5372100" y="3714750"/>
            <a:ext cx="32004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Mesmo com </a:t>
            </a: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150% de crescimento</a:t>
            </a: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na base de plantas, o custo </a:t>
            </a: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operacional aumenta apenas </a:t>
            </a:r>
            <a:r>
              <a:rPr lang="en-US" sz="700" b="1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95%</a:t>
            </a: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demonstrando alta eficiência de </a:t>
            </a:r>
            <a:r>
              <a:rPr lang="en-US" sz="750" dirty="0">
                <a:solidFill>
                  <a:srgbClr val="64748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escala.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57313" y="590252"/>
            <a:ext cx="6429375" cy="3962995"/>
          </a:xfrm>
          <a:prstGeom prst="rect">
            <a:avLst/>
          </a:prstGeom>
          <a:solidFill>
            <a:srgbClr val="FFFFFF"/>
          </a:solidFill>
          <a:ln w="9144">
            <a:solidFill>
              <a:srgbClr val="1E293B">
                <a:alpha val="1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85938" y="1026021"/>
            <a:ext cx="55721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Conclusão e Próximos Passos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785938" y="1611809"/>
            <a:ext cx="55721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6E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Vamos transformar a operação da AltaCLP juntos.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2503884" y="2247602"/>
            <a:ext cx="257175" cy="257175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4"/>
          <p:cNvSpPr/>
          <p:nvPr/>
        </p:nvSpPr>
        <p:spPr>
          <a:xfrm>
            <a:off x="2503884" y="2247602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903934" y="2289572"/>
            <a:ext cx="37361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Acesso aos dados históricos e schemas do PostgreSQL.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03884" y="2676227"/>
            <a:ext cx="257175" cy="257175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2503884" y="2676227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903934" y="2718197"/>
            <a:ext cx="3429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Alinhamento com a equipe de campo e engenharia.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03884" y="3104852"/>
            <a:ext cx="257175" cy="257175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0"/>
          <p:cNvSpPr/>
          <p:nvPr/>
        </p:nvSpPr>
        <p:spPr>
          <a:xfrm>
            <a:off x="2503884" y="3104852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903934" y="3146822"/>
            <a:ext cx="2796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Início da Fase 1 na próxima segunda-feira.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03884" y="3533477"/>
            <a:ext cx="257175" cy="257175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3"/>
          <p:cNvSpPr/>
          <p:nvPr/>
        </p:nvSpPr>
        <p:spPr>
          <a:xfrm>
            <a:off x="2503884" y="3533477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903934" y="3575447"/>
            <a:ext cx="31039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Validação dos primeiros resultados em 15 dias.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785938" y="4390727"/>
            <a:ext cx="55721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 HomoDeus é o salto tecnológico necessário para a AltaCLP dominar o mercado."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2026-05-20T00:49:46Z</dcterms:created>
  <dcterms:modified xsi:type="dcterms:W3CDTF">2026-05-20T00:49:46Z</dcterms:modified>
</cp:coreProperties>
</file>